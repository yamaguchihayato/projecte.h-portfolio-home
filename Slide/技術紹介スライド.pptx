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8" autoAdjust="0"/>
    <p:restoredTop sz="94654" autoAdjust="0"/>
  </p:normalViewPr>
  <p:slideViewPr>
    <p:cSldViewPr snapToGrid="0">
      <p:cViewPr>
        <p:scale>
          <a:sx n="66" d="100"/>
          <a:sy n="66" d="100"/>
        </p:scale>
        <p:origin x="102" y="9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AF22E5-28D9-4F4C-B883-42E650FEC3F8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24FA2-6782-4A8E-A0A6-63F0768F04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5207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24FA2-6782-4A8E-A0A6-63F0768F043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5719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24FA2-6782-4A8E-A0A6-63F0768F0433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6619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24FA2-6782-4A8E-A0A6-63F0768F0433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1619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2B340E-C5B7-C5B2-8C1A-4CF204B7B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3E798F0-9D36-4293-2C06-6EC8EC79E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94F426-6FA1-68A7-9DEB-5062DCB4A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C8E0-C146-4CAF-B8A4-C0368EBAE439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85AB7B-EF2A-007D-9DCD-A36005AE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11943A-0F05-D42F-89C0-1E3936CA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C8B-589D-4373-AED7-2B051811E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8364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33B234-54BC-A755-6BEE-47B83DCDB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079688-14F0-6430-04CF-101952EE7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748071-1063-AA58-A13D-6796AB83E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C8E0-C146-4CAF-B8A4-C0368EBAE439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B8EA8E-B3CA-479F-75C4-34FB8560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F5E414-FB2E-8861-B57F-5FE154B7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C8B-589D-4373-AED7-2B051811E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422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229EBC-8F4A-065E-0260-AF039701D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6764C1-8B68-B8C8-3DBA-CF8EA3FFA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FF4B1B-90C6-9EF4-A6CF-7526B0DBC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C8E0-C146-4CAF-B8A4-C0368EBAE439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E445EB-2718-C093-958F-D42AB0A0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3924F9-2B84-1D05-9328-4F59D51C3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C8B-589D-4373-AED7-2B051811E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988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26CF69-B955-EA4A-46A6-619937DD7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DA4FCF-7936-EF26-B2E5-84C48A31D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689249-8DE0-6FFA-4095-DC30C7852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8FF20D-7457-89EF-4445-C11EEBE8D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C8E0-C146-4CAF-B8A4-C0368EBAE439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13DA502-9205-23AE-C4D6-31485B48D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279F54-E05D-ED97-3113-BE99BE079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C8B-589D-4373-AED7-2B051811E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1091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5B3977-9EBF-60B3-7340-57F220FB5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BF0E96-D311-5D43-2120-6F7EF3F0A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A55F04D-8CE3-AD5C-2069-8C6F182FC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820B849-8482-DBD2-028A-8403C57B1C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07B96B2-B272-9D31-5592-04CA1D6B72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EFD8AA9-08F0-1CFD-B623-0CDE0A1BD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C8E0-C146-4CAF-B8A4-C0368EBAE439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AA4069-8519-5282-3205-BADE76D05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D447F3D-76DD-C612-13D8-505A9CC57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C8B-589D-4373-AED7-2B051811E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363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1A85AB-1D76-B756-7616-33D89F97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7166995-F7D6-8C0B-1F1A-DAAFBB5EE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C8E0-C146-4CAF-B8A4-C0368EBAE439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CB5B7D5-8005-25B1-D1CB-0B0A4E899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B3054AE-C8D2-2E06-58D7-9FC0B028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C8B-589D-4373-AED7-2B051811E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52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5CE3B52-4BEB-D789-3F0F-B8749C892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C8E0-C146-4CAF-B8A4-C0368EBAE439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B04A80D-CC74-96E1-7518-76416D5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89BA87-D229-BFF2-DB26-5FCE3CD99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C8B-589D-4373-AED7-2B051811E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4860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F8C4F5-3D30-43F6-A01A-FD3066B13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897C4D-6F73-5B0B-32DA-8682F4C71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C9C5449-2C9D-3D83-7D09-73DFD1A90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9602FF-7481-D24E-DEC1-917DE9D40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C8E0-C146-4CAF-B8A4-C0368EBAE439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54B24A1-EF3D-A25E-307F-6858A6C6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87865E-139F-EA96-B2AF-7097C542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C8B-589D-4373-AED7-2B051811E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086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C6B01E-A4D5-E26F-5CF3-13709BD20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0C7E903-646E-A3DF-8DA6-CA0AF244F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F48F5BF-C123-37A5-09A5-49A0423DB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F5EE67-E164-4C4B-5DAA-401D293A9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C8E0-C146-4CAF-B8A4-C0368EBAE439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78F4F2-01D1-02BE-1E28-7219416C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20BE725-09A3-D356-997A-92E23F56B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C8B-589D-4373-AED7-2B051811E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127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F3A614-50DD-7F29-4533-CD1013B76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7AE2C41-09AD-2645-E9BC-30CAECC91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FBEF3C-2E07-830A-BB73-B7215B9C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C8E0-C146-4CAF-B8A4-C0368EBAE439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110354-9EF9-6D28-AF56-13F7560B0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F14A94-4E4B-6E67-4447-BC846C54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C8B-589D-4373-AED7-2B051811E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3382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2383E20-913B-19D6-F5BD-653984F696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BE29F18-9968-2E8C-BC76-1C189CB8E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4E70FA-AFE9-EEA4-90FC-B8E494A10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C8E0-C146-4CAF-B8A4-C0368EBAE439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B5AD03-116E-216A-EEB4-BF09093C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44E53A-2A97-E071-2F14-F10A010DA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FC8B-589D-4373-AED7-2B051811E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6258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F8C5A65-CA51-14C7-3513-BC1D99C93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4716F7-FCE1-FD93-374A-8D0ABE345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B394B5-7EF7-58ED-5C75-9782FF73A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52C8E0-C146-4CAF-B8A4-C0368EBAE439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50A1D7-D74C-A59A-72BE-52959EE65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5518DA-A2EF-943B-E1E7-F34F59FF2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6FC8B-589D-4373-AED7-2B051811E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AEFD7A2-2EB0-7F58-BB65-1E7103F0EA9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926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8.xml"/><Relationship Id="rId7" Type="http://schemas.openxmlformats.org/officeDocument/2006/relationships/slide" Target="slide1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slide" Target="slide13.xml"/><Relationship Id="rId5" Type="http://schemas.openxmlformats.org/officeDocument/2006/relationships/slide" Target="slide6.xml"/><Relationship Id="rId10" Type="http://schemas.openxmlformats.org/officeDocument/2006/relationships/slide" Target="slide12.xml"/><Relationship Id="rId4" Type="http://schemas.openxmlformats.org/officeDocument/2006/relationships/slide" Target="slide5.xml"/><Relationship Id="rId9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A6C577-6C4D-A855-3E6F-59F3FF2CC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30548"/>
            <a:ext cx="9144000" cy="2387600"/>
          </a:xfrm>
        </p:spPr>
        <p:txBody>
          <a:bodyPr/>
          <a:lstStyle/>
          <a:p>
            <a:r>
              <a:rPr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エレメンタルハンターズ</a:t>
            </a:r>
            <a:endParaRPr kumimoji="1" lang="ja-JP" altLang="en-US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09C912-69B8-D60F-11CA-9D63A2CAF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10223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技術紹介スライド</a:t>
            </a:r>
            <a:endParaRPr kumimoji="1" lang="en-US" altLang="ja-JP" b="1" dirty="0">
              <a:solidFill>
                <a:schemeClr val="bg1"/>
              </a:solidFill>
            </a:endParaRPr>
          </a:p>
          <a:p>
            <a:endParaRPr lang="en-US" altLang="ja-JP" b="1" dirty="0">
              <a:solidFill>
                <a:schemeClr val="bg1"/>
              </a:solidFill>
            </a:endParaRPr>
          </a:p>
          <a:p>
            <a:pPr algn="r"/>
            <a:r>
              <a:rPr lang="en-US" altLang="ja-JP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 プログラマ志望 山口 隼</a:t>
            </a:r>
            <a:r>
              <a:rPr lang="en-US" altLang="ja-JP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やまぐち はやと</a:t>
            </a:r>
            <a:r>
              <a:rPr lang="en-US" altLang="ja-JP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pPr algn="r"/>
            <a:r>
              <a:rPr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担当箇所</a:t>
            </a:r>
            <a:r>
              <a:rPr lang="en-US" altLang="ja-JP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:Player/NPC/InputSystem/Stage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25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55F8D8A-000D-6151-8C86-C6A3F7922867}"/>
              </a:ext>
            </a:extLst>
          </p:cNvPr>
          <p:cNvSpPr txBox="1"/>
          <p:nvPr/>
        </p:nvSpPr>
        <p:spPr>
          <a:xfrm>
            <a:off x="555583" y="110871"/>
            <a:ext cx="1607044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目次</a:t>
            </a:r>
          </a:p>
        </p:txBody>
      </p:sp>
      <p:sp>
        <p:nvSpPr>
          <p:cNvPr id="3" name="正方形/長方形 2">
            <a:hlinkClick r:id="rId2" action="ppaction://hlinksldjump"/>
            <a:extLst>
              <a:ext uri="{FF2B5EF4-FFF2-40B4-BE49-F238E27FC236}">
                <a16:creationId xmlns:a16="http://schemas.microsoft.com/office/drawing/2014/main" id="{26AFCEDC-E558-D3F2-8E34-91A99184CD01}"/>
              </a:ext>
            </a:extLst>
          </p:cNvPr>
          <p:cNvSpPr/>
          <p:nvPr/>
        </p:nvSpPr>
        <p:spPr>
          <a:xfrm>
            <a:off x="555583" y="1086842"/>
            <a:ext cx="5540416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①担当範囲</a:t>
            </a:r>
            <a:endParaRPr kumimoji="1" lang="ja-JP" altLang="en-US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hlinkClick r:id="rId3" action="ppaction://hlinksldjump"/>
            <a:extLst>
              <a:ext uri="{FF2B5EF4-FFF2-40B4-BE49-F238E27FC236}">
                <a16:creationId xmlns:a16="http://schemas.microsoft.com/office/drawing/2014/main" id="{24E0AB0B-276C-4447-8D96-8DBE1BF7F778}"/>
              </a:ext>
            </a:extLst>
          </p:cNvPr>
          <p:cNvSpPr/>
          <p:nvPr/>
        </p:nvSpPr>
        <p:spPr>
          <a:xfrm>
            <a:off x="555582" y="5546375"/>
            <a:ext cx="5540417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⑤コンボ</a:t>
            </a:r>
            <a:r>
              <a:rPr kumimoji="1"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パラメーター管理</a:t>
            </a:r>
          </a:p>
        </p:txBody>
      </p:sp>
      <p:sp>
        <p:nvSpPr>
          <p:cNvPr id="5" name="正方形/長方形 4">
            <a:hlinkClick r:id="rId4" action="ppaction://hlinksldjump"/>
            <a:extLst>
              <a:ext uri="{FF2B5EF4-FFF2-40B4-BE49-F238E27FC236}">
                <a16:creationId xmlns:a16="http://schemas.microsoft.com/office/drawing/2014/main" id="{9079E900-329D-2478-C436-4A4D8717B67A}"/>
              </a:ext>
            </a:extLst>
          </p:cNvPr>
          <p:cNvSpPr/>
          <p:nvPr/>
        </p:nvSpPr>
        <p:spPr>
          <a:xfrm>
            <a:off x="555583" y="2115875"/>
            <a:ext cx="5540416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②技術工夫による全体像</a:t>
            </a:r>
            <a:endParaRPr kumimoji="1" lang="ja-JP" altLang="en-US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hlinkClick r:id="rId5" action="ppaction://hlinksldjump"/>
            <a:extLst>
              <a:ext uri="{FF2B5EF4-FFF2-40B4-BE49-F238E27FC236}">
                <a16:creationId xmlns:a16="http://schemas.microsoft.com/office/drawing/2014/main" id="{DF697F3F-0F75-10F2-6AE6-2C9B047EAC16}"/>
              </a:ext>
            </a:extLst>
          </p:cNvPr>
          <p:cNvSpPr/>
          <p:nvPr/>
        </p:nvSpPr>
        <p:spPr>
          <a:xfrm>
            <a:off x="555582" y="3203512"/>
            <a:ext cx="5540417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③キャラクター共通基盤</a:t>
            </a:r>
            <a:endParaRPr kumimoji="1" lang="ja-JP" altLang="en-US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hlinkClick r:id="rId6" action="ppaction://hlinksldjump"/>
            <a:extLst>
              <a:ext uri="{FF2B5EF4-FFF2-40B4-BE49-F238E27FC236}">
                <a16:creationId xmlns:a16="http://schemas.microsoft.com/office/drawing/2014/main" id="{419A765D-B280-6C97-29BA-6FD91AC19DDB}"/>
              </a:ext>
            </a:extLst>
          </p:cNvPr>
          <p:cNvSpPr/>
          <p:nvPr/>
        </p:nvSpPr>
        <p:spPr>
          <a:xfrm>
            <a:off x="555582" y="4358572"/>
            <a:ext cx="5540418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④階層型</a:t>
            </a:r>
            <a:r>
              <a:rPr kumimoji="1" lang="en-US" altLang="ja-JP" sz="3200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StateMachine</a:t>
            </a:r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設計</a:t>
            </a:r>
          </a:p>
        </p:txBody>
      </p:sp>
      <p:sp>
        <p:nvSpPr>
          <p:cNvPr id="8" name="正方形/長方形 7">
            <a:hlinkClick r:id="rId7" action="ppaction://hlinksldjump"/>
            <a:extLst>
              <a:ext uri="{FF2B5EF4-FFF2-40B4-BE49-F238E27FC236}">
                <a16:creationId xmlns:a16="http://schemas.microsoft.com/office/drawing/2014/main" id="{C49B2069-B2E2-18BD-DF2A-37CA4E5B9494}"/>
              </a:ext>
            </a:extLst>
          </p:cNvPr>
          <p:cNvSpPr/>
          <p:nvPr/>
        </p:nvSpPr>
        <p:spPr>
          <a:xfrm>
            <a:off x="6550090" y="2115875"/>
            <a:ext cx="5337111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➆</a:t>
            </a:r>
            <a:r>
              <a:rPr kumimoji="1" lang="en-US" altLang="ja-JP" sz="3200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AdapterPattern</a:t>
            </a:r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の導入</a:t>
            </a:r>
          </a:p>
        </p:txBody>
      </p:sp>
      <p:sp>
        <p:nvSpPr>
          <p:cNvPr id="9" name="正方形/長方形 8">
            <a:hlinkClick r:id="rId8" action="ppaction://hlinksldjump"/>
            <a:extLst>
              <a:ext uri="{FF2B5EF4-FFF2-40B4-BE49-F238E27FC236}">
                <a16:creationId xmlns:a16="http://schemas.microsoft.com/office/drawing/2014/main" id="{1D079440-7B5B-45F8-F2D2-B5CB7B7FD87A}"/>
              </a:ext>
            </a:extLst>
          </p:cNvPr>
          <p:cNvSpPr/>
          <p:nvPr/>
        </p:nvSpPr>
        <p:spPr>
          <a:xfrm>
            <a:off x="6550090" y="3203511"/>
            <a:ext cx="5337111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発射リクエスト</a:t>
            </a:r>
            <a:r>
              <a:rPr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/Factory</a:t>
            </a:r>
            <a:endParaRPr kumimoji="1" lang="ja-JP" altLang="en-US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正方形/長方形 9">
            <a:hlinkClick r:id="rId9" action="ppaction://hlinksldjump"/>
            <a:extLst>
              <a:ext uri="{FF2B5EF4-FFF2-40B4-BE49-F238E27FC236}">
                <a16:creationId xmlns:a16="http://schemas.microsoft.com/office/drawing/2014/main" id="{C173EB5B-220F-AA48-1AD3-F6A9E84770DD}"/>
              </a:ext>
            </a:extLst>
          </p:cNvPr>
          <p:cNvSpPr/>
          <p:nvPr/>
        </p:nvSpPr>
        <p:spPr>
          <a:xfrm>
            <a:off x="6550090" y="1086842"/>
            <a:ext cx="5337111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⑥入力システム再設計</a:t>
            </a:r>
            <a:endParaRPr kumimoji="1" lang="ja-JP" altLang="en-US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正方形/長方形 10">
            <a:hlinkClick r:id="rId10" action="ppaction://hlinksldjump"/>
            <a:extLst>
              <a:ext uri="{FF2B5EF4-FFF2-40B4-BE49-F238E27FC236}">
                <a16:creationId xmlns:a16="http://schemas.microsoft.com/office/drawing/2014/main" id="{4ABB0C4B-DC22-C61F-BA7C-A515B1C38161}"/>
              </a:ext>
            </a:extLst>
          </p:cNvPr>
          <p:cNvSpPr/>
          <p:nvPr/>
        </p:nvSpPr>
        <p:spPr>
          <a:xfrm>
            <a:off x="6550088" y="4404950"/>
            <a:ext cx="5337111" cy="8099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⑨データ駆動ステージ管理</a:t>
            </a:r>
          </a:p>
        </p:txBody>
      </p:sp>
      <p:sp>
        <p:nvSpPr>
          <p:cNvPr id="12" name="正方形/長方形 11">
            <a:hlinkClick r:id="rId11" action="ppaction://hlinksldjump"/>
            <a:extLst>
              <a:ext uri="{FF2B5EF4-FFF2-40B4-BE49-F238E27FC236}">
                <a16:creationId xmlns:a16="http://schemas.microsoft.com/office/drawing/2014/main" id="{EFB95A8E-AAEC-8877-75F7-301EC6B167EC}"/>
              </a:ext>
            </a:extLst>
          </p:cNvPr>
          <p:cNvSpPr/>
          <p:nvPr/>
        </p:nvSpPr>
        <p:spPr>
          <a:xfrm>
            <a:off x="6550088" y="5608300"/>
            <a:ext cx="5337111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⑩まとめ</a:t>
            </a:r>
          </a:p>
        </p:txBody>
      </p:sp>
    </p:spTree>
    <p:extLst>
      <p:ext uri="{BB962C8B-B14F-4D97-AF65-F5344CB8AC3E}">
        <p14:creationId xmlns:p14="http://schemas.microsoft.com/office/powerpoint/2010/main" val="337259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2A152CC-FAFE-156E-7676-B16C730B5D71}"/>
              </a:ext>
            </a:extLst>
          </p:cNvPr>
          <p:cNvSpPr txBox="1"/>
          <p:nvPr/>
        </p:nvSpPr>
        <p:spPr>
          <a:xfrm>
            <a:off x="555583" y="110871"/>
            <a:ext cx="3565004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①担当範囲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2F25AAE-F1F7-D754-C3BF-DEC143649A82}"/>
              </a:ext>
            </a:extLst>
          </p:cNvPr>
          <p:cNvSpPr txBox="1"/>
          <p:nvPr/>
        </p:nvSpPr>
        <p:spPr>
          <a:xfrm>
            <a:off x="555583" y="1733256"/>
            <a:ext cx="4537278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1.Player </a:t>
            </a:r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制御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F336DF-DE65-20A9-61EF-43C67853AD16}"/>
              </a:ext>
            </a:extLst>
          </p:cNvPr>
          <p:cNvSpPr txBox="1"/>
          <p:nvPr/>
        </p:nvSpPr>
        <p:spPr>
          <a:xfrm>
            <a:off x="555583" y="3100998"/>
            <a:ext cx="4537278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2.NPC </a:t>
            </a:r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制御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DDF1882-395A-886F-5114-1370DC57D02D}"/>
              </a:ext>
            </a:extLst>
          </p:cNvPr>
          <p:cNvSpPr txBox="1"/>
          <p:nvPr/>
        </p:nvSpPr>
        <p:spPr>
          <a:xfrm>
            <a:off x="555583" y="4468740"/>
            <a:ext cx="4537278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3.</a:t>
            </a:r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入力設計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B19D2ED-DAEF-5A35-8B5A-8B0221A40187}"/>
              </a:ext>
            </a:extLst>
          </p:cNvPr>
          <p:cNvSpPr txBox="1"/>
          <p:nvPr/>
        </p:nvSpPr>
        <p:spPr>
          <a:xfrm>
            <a:off x="555583" y="5916132"/>
            <a:ext cx="4537278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4.</a:t>
            </a:r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ステージ管理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1BB00D-3208-D322-47FE-6ACD6A974363}"/>
              </a:ext>
            </a:extLst>
          </p:cNvPr>
          <p:cNvSpPr txBox="1"/>
          <p:nvPr/>
        </p:nvSpPr>
        <p:spPr>
          <a:xfrm>
            <a:off x="6761541" y="1856366"/>
            <a:ext cx="5021487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移動</a:t>
            </a:r>
            <a:r>
              <a:rPr kumimoji="1"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攻撃</a:t>
            </a:r>
            <a:r>
              <a:rPr kumimoji="1"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状態管理</a:t>
            </a:r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F31BE2AA-65A0-D6A7-BC27-B912AFC5B29C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5092861" y="2148754"/>
            <a:ext cx="1668680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911CEB4-3B4F-8848-A36F-B0C6CD81E23D}"/>
              </a:ext>
            </a:extLst>
          </p:cNvPr>
          <p:cNvSpPr txBox="1"/>
          <p:nvPr/>
        </p:nvSpPr>
        <p:spPr>
          <a:xfrm>
            <a:off x="6761542" y="3224108"/>
            <a:ext cx="4874875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行動</a:t>
            </a:r>
            <a:r>
              <a:rPr kumimoji="1"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仮想入力</a:t>
            </a: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5E421188-9DF6-3CFC-8019-10949E4D02F8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 flipV="1">
            <a:off x="5092861" y="3516496"/>
            <a:ext cx="1668681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E02A359-38E4-F143-0069-3BF231613452}"/>
              </a:ext>
            </a:extLst>
          </p:cNvPr>
          <p:cNvSpPr txBox="1"/>
          <p:nvPr/>
        </p:nvSpPr>
        <p:spPr>
          <a:xfrm>
            <a:off x="6761542" y="4591850"/>
            <a:ext cx="4874875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Player/NPC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の入力切替</a:t>
            </a:r>
            <a:endParaRPr kumimoji="1" lang="ja-JP" altLang="en-US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E0959513-C3E5-5CE8-9D00-FDFBA3A1AEF5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 flipV="1">
            <a:off x="5092861" y="4884238"/>
            <a:ext cx="1668681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DFBBB3A-661D-1345-51A1-C6619501C78D}"/>
              </a:ext>
            </a:extLst>
          </p:cNvPr>
          <p:cNvSpPr txBox="1"/>
          <p:nvPr/>
        </p:nvSpPr>
        <p:spPr>
          <a:xfrm>
            <a:off x="6761541" y="6039242"/>
            <a:ext cx="5021487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データ駆動ステージ管理</a:t>
            </a:r>
          </a:p>
        </p:txBody>
      </p: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128525CB-F295-A0B8-3CB2-320A52A9B9E4}"/>
              </a:ext>
            </a:extLst>
          </p:cNvPr>
          <p:cNvCxnSpPr>
            <a:cxnSpLocks/>
            <a:stCxn id="7" idx="3"/>
            <a:endCxn id="29" idx="1"/>
          </p:cNvCxnSpPr>
          <p:nvPr/>
        </p:nvCxnSpPr>
        <p:spPr>
          <a:xfrm flipV="1">
            <a:off x="5092861" y="6331630"/>
            <a:ext cx="1668680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119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A7C9CC2-F88F-5AFB-50F5-50EA3442D5E4}"/>
              </a:ext>
            </a:extLst>
          </p:cNvPr>
          <p:cNvSpPr txBox="1"/>
          <p:nvPr/>
        </p:nvSpPr>
        <p:spPr>
          <a:xfrm>
            <a:off x="555583" y="110871"/>
            <a:ext cx="4676174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</a:t>
            </a:r>
            <a:r>
              <a:rPr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Player </a:t>
            </a:r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制御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4C09AC9-F958-B558-3136-304585807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83" y="1086336"/>
            <a:ext cx="6551273" cy="512516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E602D96-15D9-34C1-FFE8-09B0E1F85B75}"/>
              </a:ext>
            </a:extLst>
          </p:cNvPr>
          <p:cNvSpPr txBox="1"/>
          <p:nvPr/>
        </p:nvSpPr>
        <p:spPr>
          <a:xfrm>
            <a:off x="7106856" y="1086336"/>
            <a:ext cx="4857511" cy="255454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Player</a:t>
            </a:r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クラスを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・移動処理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・攻撃処理</a:t>
            </a:r>
            <a:endParaRPr kumimoji="1"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・状態遷移処理に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分け責務分けをしました。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8963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84E7BB-B8F2-F9CB-AC10-22B51626BC76}"/>
              </a:ext>
            </a:extLst>
          </p:cNvPr>
          <p:cNvSpPr txBox="1"/>
          <p:nvPr/>
        </p:nvSpPr>
        <p:spPr>
          <a:xfrm>
            <a:off x="555583" y="110871"/>
            <a:ext cx="4676174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</a:t>
            </a:r>
            <a:r>
              <a:rPr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NPC </a:t>
            </a:r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制御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6B94896-7B28-6ED2-386E-F6A19BD3B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245" y="110871"/>
            <a:ext cx="5077534" cy="666862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101E069-F055-AA01-2105-DDE5F7E0B967}"/>
              </a:ext>
            </a:extLst>
          </p:cNvPr>
          <p:cNvSpPr txBox="1"/>
          <p:nvPr/>
        </p:nvSpPr>
        <p:spPr>
          <a:xfrm>
            <a:off x="555583" y="1237588"/>
            <a:ext cx="6404662" cy="206210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Player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の入力を物理入力、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NPC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を仮想入力として扱い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共通処理で制御できるように設計しました。</a:t>
            </a:r>
          </a:p>
        </p:txBody>
      </p:sp>
    </p:spTree>
    <p:extLst>
      <p:ext uri="{BB962C8B-B14F-4D97-AF65-F5344CB8AC3E}">
        <p14:creationId xmlns:p14="http://schemas.microsoft.com/office/powerpoint/2010/main" val="1227366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E5DD669-EE1C-B380-BC49-39EE48E3AD3D}"/>
              </a:ext>
            </a:extLst>
          </p:cNvPr>
          <p:cNvSpPr txBox="1"/>
          <p:nvPr/>
        </p:nvSpPr>
        <p:spPr>
          <a:xfrm>
            <a:off x="555583" y="110871"/>
            <a:ext cx="6910088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③キャラクター共通基盤</a:t>
            </a:r>
            <a:endParaRPr kumimoji="1"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7333142-1AEA-0A48-8F65-44218026D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83" y="1044408"/>
            <a:ext cx="6340788" cy="570272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1E5E4E-A4E7-22AC-437E-84730A5021D3}"/>
              </a:ext>
            </a:extLst>
          </p:cNvPr>
          <p:cNvSpPr txBox="1"/>
          <p:nvPr/>
        </p:nvSpPr>
        <p:spPr>
          <a:xfrm>
            <a:off x="7048771" y="1044408"/>
            <a:ext cx="5014892" cy="35394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共通処理と</a:t>
            </a:r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武器固有の</a:t>
            </a:r>
            <a:endParaRPr kumimoji="1"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処理を分離しています。</a:t>
            </a:r>
            <a:endParaRPr kumimoji="1"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結果としてキャラクターを追加する時や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修正時の影響範囲を抑えやすくしました。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06CB1CC-C5AF-BA4B-7DC7-29D02A6CE3CB}"/>
              </a:ext>
            </a:extLst>
          </p:cNvPr>
          <p:cNvSpPr txBox="1"/>
          <p:nvPr/>
        </p:nvSpPr>
        <p:spPr>
          <a:xfrm>
            <a:off x="555584" y="1054314"/>
            <a:ext cx="21229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③</a:t>
            </a:r>
            <a:r>
              <a:rPr lang="en-US" altLang="ja-JP" dirty="0"/>
              <a:t>Character</a:t>
            </a:r>
            <a:r>
              <a:rPr lang="ja-JP" altLang="en-US" dirty="0"/>
              <a:t>の基盤とその実態をもつプレイアブキャラクラスの</a:t>
            </a:r>
            <a:r>
              <a:rPr kumimoji="1" lang="ja-JP" altLang="en-US" dirty="0"/>
              <a:t>継承関係図</a:t>
            </a:r>
          </a:p>
        </p:txBody>
      </p:sp>
    </p:spTree>
    <p:extLst>
      <p:ext uri="{BB962C8B-B14F-4D97-AF65-F5344CB8AC3E}">
        <p14:creationId xmlns:p14="http://schemas.microsoft.com/office/powerpoint/2010/main" val="3712259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9081569-16C8-ABC4-F6E1-2D82937F66F2}"/>
              </a:ext>
            </a:extLst>
          </p:cNvPr>
          <p:cNvSpPr txBox="1"/>
          <p:nvPr/>
        </p:nvSpPr>
        <p:spPr>
          <a:xfrm>
            <a:off x="555583" y="110871"/>
            <a:ext cx="8347785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④階層型</a:t>
            </a:r>
            <a:r>
              <a:rPr lang="en-US" altLang="ja-JP" sz="4800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StateMachine</a:t>
            </a:r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設計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BD3DC78-9A0C-E1FD-894C-3EA6D62FE3F4}"/>
              </a:ext>
            </a:extLst>
          </p:cNvPr>
          <p:cNvSpPr txBox="1"/>
          <p:nvPr/>
        </p:nvSpPr>
        <p:spPr>
          <a:xfrm>
            <a:off x="6096000" y="1054314"/>
            <a:ext cx="6096000" cy="5509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状態</a:t>
            </a:r>
            <a:r>
              <a:rPr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ステート</a:t>
            </a:r>
            <a:r>
              <a:rPr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ごとに処理を分岐し、</a:t>
            </a:r>
            <a:r>
              <a:rPr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Player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クラスの</a:t>
            </a:r>
            <a:r>
              <a:rPr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if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文の分岐を削減しました。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実装しやすくなった点</a:t>
            </a:r>
            <a:r>
              <a:rPr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:</a:t>
            </a:r>
          </a:p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新規実装時は</a:t>
            </a:r>
            <a:r>
              <a:rPr lang="en-US" altLang="ja-JP" sz="3200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AttackState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追加し、遷移条件を登録する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ことで実装ができます。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関連コード</a:t>
            </a:r>
            <a:r>
              <a:rPr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:</a:t>
            </a:r>
          </a:p>
          <a:p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Player/</a:t>
            </a:r>
            <a:r>
              <a:rPr lang="en-US" altLang="ja-JP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StateMachine</a:t>
            </a:r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各</a:t>
            </a:r>
            <a:r>
              <a:rPr lang="en-US" altLang="ja-JP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AttackState</a:t>
            </a:r>
            <a:endParaRPr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PlayerAttackBaseState</a:t>
            </a:r>
            <a:endParaRPr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342D1359-5364-5570-3637-CF6BB31F0AA8}"/>
              </a:ext>
            </a:extLst>
          </p:cNvPr>
          <p:cNvGrpSpPr/>
          <p:nvPr/>
        </p:nvGrpSpPr>
        <p:grpSpPr>
          <a:xfrm>
            <a:off x="555583" y="1054314"/>
            <a:ext cx="5544324" cy="5582429"/>
            <a:chOff x="555583" y="1054314"/>
            <a:chExt cx="5544324" cy="5582429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FFD5881D-CFAA-494E-0913-B8B107C14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5583" y="1054314"/>
              <a:ext cx="5544324" cy="5582429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DF67FD0C-1024-C28A-7E95-1B869300EF20}"/>
                </a:ext>
              </a:extLst>
            </p:cNvPr>
            <p:cNvSpPr txBox="1"/>
            <p:nvPr/>
          </p:nvSpPr>
          <p:spPr>
            <a:xfrm>
              <a:off x="555583" y="1054314"/>
              <a:ext cx="23353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図</a:t>
              </a:r>
              <a:r>
                <a:rPr lang="en-US" altLang="ja-JP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4 </a:t>
              </a:r>
              <a:r>
                <a:rPr lang="en-US" altLang="ja-JP" b="1" dirty="0" err="1">
                  <a:latin typeface="メイリオ" panose="020B0604030504040204" pitchFamily="50" charset="-128"/>
                  <a:ea typeface="メイリオ" panose="020B0604030504040204" pitchFamily="50" charset="-128"/>
                </a:rPr>
                <a:t>StateMachine</a:t>
              </a:r>
              <a:r>
                <a:rPr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と攻撃ステート構成</a:t>
              </a:r>
              <a:endPara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148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9F4A6F3-0B59-A98A-73BE-709D3D2FD285}"/>
              </a:ext>
            </a:extLst>
          </p:cNvPr>
          <p:cNvSpPr txBox="1"/>
          <p:nvPr/>
        </p:nvSpPr>
        <p:spPr>
          <a:xfrm>
            <a:off x="555583" y="110871"/>
            <a:ext cx="8347785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⑤コンボ</a:t>
            </a:r>
            <a:r>
              <a:rPr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パラメーター管理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004D7BE-5BCF-860F-FBE0-C529161B50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11" t="9214" r="17312" b="2461"/>
          <a:stretch>
            <a:fillRect/>
          </a:stretch>
        </p:blipFill>
        <p:spPr>
          <a:xfrm>
            <a:off x="555583" y="1052416"/>
            <a:ext cx="1644072" cy="5694713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A85B562C-C7C7-AE78-D7FE-95F87E2F75CA}"/>
              </a:ext>
            </a:extLst>
          </p:cNvPr>
          <p:cNvGrpSpPr/>
          <p:nvPr/>
        </p:nvGrpSpPr>
        <p:grpSpPr>
          <a:xfrm>
            <a:off x="2199655" y="1052415"/>
            <a:ext cx="9810650" cy="5694714"/>
            <a:chOff x="3197669" y="-70348"/>
            <a:chExt cx="9810650" cy="5694714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889001F9-AF37-93E5-86ED-31BA19E008CD}"/>
                </a:ext>
              </a:extLst>
            </p:cNvPr>
            <p:cNvSpPr txBox="1"/>
            <p:nvPr/>
          </p:nvSpPr>
          <p:spPr>
            <a:xfrm>
              <a:off x="3197669" y="-70348"/>
              <a:ext cx="9810650" cy="156966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ja-JP" altLang="en-US" sz="24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コンボ派生条件やダメージ倍率をテーブルとして定義しています。</a:t>
              </a:r>
              <a:br>
                <a:rPr lang="ja-JP" altLang="en-US" sz="24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</a:br>
              <a:endPara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r>
                <a:rPr lang="ja-JP" altLang="en-US" sz="24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攻撃ステートを直接変更せず、テーブル内の値を変えるだけで</a:t>
              </a:r>
              <a:endPara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r>
                <a:rPr lang="ja-JP" altLang="en-US" sz="24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攻撃倍率とクリティカル倍率を調整できます。</a:t>
              </a:r>
            </a:p>
          </p:txBody>
        </p: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1D904211-F345-ED8A-BA74-8C3F8507FA85}"/>
                </a:ext>
              </a:extLst>
            </p:cNvPr>
            <p:cNvGrpSpPr/>
            <p:nvPr/>
          </p:nvGrpSpPr>
          <p:grpSpPr>
            <a:xfrm>
              <a:off x="3197669" y="1832873"/>
              <a:ext cx="9810650" cy="3791493"/>
              <a:chOff x="3133014" y="2436396"/>
              <a:chExt cx="9810650" cy="3791493"/>
            </a:xfrm>
          </p:grpSpPr>
          <p:pic>
            <p:nvPicPr>
              <p:cNvPr id="7" name="図 6">
                <a:extLst>
                  <a:ext uri="{FF2B5EF4-FFF2-40B4-BE49-F238E27FC236}">
                    <a16:creationId xmlns:a16="http://schemas.microsoft.com/office/drawing/2014/main" id="{28195D92-12D9-8A21-C04D-CB46B8FC36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55421"/>
              <a:stretch>
                <a:fillRect/>
              </a:stretch>
            </p:blipFill>
            <p:spPr>
              <a:xfrm>
                <a:off x="3133014" y="2436396"/>
                <a:ext cx="9810650" cy="3422161"/>
              </a:xfrm>
              <a:prstGeom prst="rect">
                <a:avLst/>
              </a:prstGeom>
            </p:spPr>
          </p:pic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24B58A57-23DD-1696-F8D6-B3C8A11A7725}"/>
                  </a:ext>
                </a:extLst>
              </p:cNvPr>
              <p:cNvSpPr txBox="1"/>
              <p:nvPr/>
            </p:nvSpPr>
            <p:spPr>
              <a:xfrm>
                <a:off x="3133014" y="5858557"/>
                <a:ext cx="3055349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ja-JP" b="1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Attack Parameter Table</a:t>
                </a:r>
                <a:endParaRPr kumimoji="1"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87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550AA74-0C2F-B889-0B1D-9681FD68923E}"/>
              </a:ext>
            </a:extLst>
          </p:cNvPr>
          <p:cNvSpPr txBox="1"/>
          <p:nvPr/>
        </p:nvSpPr>
        <p:spPr>
          <a:xfrm>
            <a:off x="555583" y="110871"/>
            <a:ext cx="6319779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⑥入力システム再設計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9E3E80C-4CE8-BCDF-706B-A6D439396F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62" t="19730" r="3430" b="7322"/>
          <a:stretch>
            <a:fillRect/>
          </a:stretch>
        </p:blipFill>
        <p:spPr>
          <a:xfrm>
            <a:off x="555583" y="1176111"/>
            <a:ext cx="4685640" cy="310560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069B420-F106-1275-D8C0-A4875E73A4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67" t="12334" r="5100" b="9128"/>
          <a:stretch>
            <a:fillRect/>
          </a:stretch>
        </p:blipFill>
        <p:spPr>
          <a:xfrm>
            <a:off x="6875362" y="1176110"/>
            <a:ext cx="5065065" cy="3105603"/>
          </a:xfrm>
          <a:prstGeom prst="rect">
            <a:avLst/>
          </a:prstGeom>
        </p:spPr>
      </p:pic>
      <p:sp>
        <p:nvSpPr>
          <p:cNvPr id="13" name="矢印: 右 12">
            <a:extLst>
              <a:ext uri="{FF2B5EF4-FFF2-40B4-BE49-F238E27FC236}">
                <a16:creationId xmlns:a16="http://schemas.microsoft.com/office/drawing/2014/main" id="{B1E94931-1F45-0299-2C62-AACEC1448FA4}"/>
              </a:ext>
            </a:extLst>
          </p:cNvPr>
          <p:cNvSpPr/>
          <p:nvPr/>
        </p:nvSpPr>
        <p:spPr>
          <a:xfrm>
            <a:off x="5347687" y="2199140"/>
            <a:ext cx="1527675" cy="1059543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466699D-6243-1D9C-43AA-04281ACB9F2E}"/>
              </a:ext>
            </a:extLst>
          </p:cNvPr>
          <p:cNvSpPr txBox="1"/>
          <p:nvPr/>
        </p:nvSpPr>
        <p:spPr>
          <a:xfrm>
            <a:off x="555584" y="4515955"/>
            <a:ext cx="11384843" cy="187743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旧設計</a:t>
            </a:r>
            <a:r>
              <a:rPr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: 1</a:t>
            </a:r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つのクラスに物理入力と仮想入力が分岐していました。</a:t>
            </a:r>
            <a:endParaRPr lang="en-US" altLang="ja-JP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新設計</a:t>
            </a:r>
            <a:r>
              <a:rPr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lang="en-US" altLang="ja-JP" sz="2800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AdapterPattern</a:t>
            </a:r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で設計し、入力元を分離。これにより、</a:t>
            </a:r>
            <a:endParaRPr lang="en-US" altLang="ja-JP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3200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PlayerInput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はアクション部分への変換に集中できます。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2036588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04AB1E6-B813-ACC5-E064-7A9A1E21C1C6}"/>
              </a:ext>
            </a:extLst>
          </p:cNvPr>
          <p:cNvSpPr txBox="1"/>
          <p:nvPr/>
        </p:nvSpPr>
        <p:spPr>
          <a:xfrm>
            <a:off x="555583" y="110871"/>
            <a:ext cx="8240074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➆</a:t>
            </a:r>
            <a:r>
              <a:rPr lang="en-US" altLang="ja-JP" sz="4800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AdapterPattern</a:t>
            </a:r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の導入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6D9EDBD-4213-A91C-6D4F-C1B0902C32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6" t="6869" r="2028" b="1715"/>
          <a:stretch>
            <a:fillRect/>
          </a:stretch>
        </p:blipFill>
        <p:spPr>
          <a:xfrm>
            <a:off x="555583" y="955930"/>
            <a:ext cx="7678057" cy="579119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87C4456-3002-EF7D-8558-555784DFC903}"/>
              </a:ext>
            </a:extLst>
          </p:cNvPr>
          <p:cNvSpPr txBox="1"/>
          <p:nvPr/>
        </p:nvSpPr>
        <p:spPr>
          <a:xfrm>
            <a:off x="6096000" y="3429000"/>
            <a:ext cx="5979886" cy="15696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物理入力と仮想入力を共通の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入力経路へ集約し</a:t>
            </a:r>
            <a:r>
              <a:rPr lang="en-US" altLang="ja-JP" sz="3200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PlayerInput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の再利用を可能にしました。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7600E4-9FD1-CEE8-CF2D-14C750952FCA}"/>
              </a:ext>
            </a:extLst>
          </p:cNvPr>
          <p:cNvSpPr txBox="1"/>
          <p:nvPr/>
        </p:nvSpPr>
        <p:spPr>
          <a:xfrm>
            <a:off x="555583" y="6100798"/>
            <a:ext cx="2264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図</a:t>
            </a:r>
            <a:r>
              <a:rPr lang="en-US" altLang="ja-JP" b="1" dirty="0"/>
              <a:t>7 </a:t>
            </a:r>
            <a:r>
              <a:rPr lang="ja-JP" altLang="en-US" b="1" dirty="0"/>
              <a:t>物理入力と仮想入力の合流構造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938731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C2B8FEA-D8CD-6E2D-D918-055B211F87B2}"/>
              </a:ext>
            </a:extLst>
          </p:cNvPr>
          <p:cNvSpPr txBox="1"/>
          <p:nvPr/>
        </p:nvSpPr>
        <p:spPr>
          <a:xfrm>
            <a:off x="555583" y="110871"/>
            <a:ext cx="8240074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⑧発射リクエスト</a:t>
            </a:r>
            <a:r>
              <a:rPr lang="en-US" altLang="ja-JP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/Factory</a:t>
            </a:r>
            <a:endParaRPr lang="ja-JP" altLang="en-US" sz="4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7890D5-FAC4-20C4-A926-C8039D8C5F64}"/>
              </a:ext>
            </a:extLst>
          </p:cNvPr>
          <p:cNvSpPr txBox="1"/>
          <p:nvPr/>
        </p:nvSpPr>
        <p:spPr>
          <a:xfrm>
            <a:off x="570097" y="3478631"/>
            <a:ext cx="11377792" cy="255454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sz="3200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AttackState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が生成処理を持たないよう、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発射情報</a:t>
            </a:r>
            <a:r>
              <a:rPr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Request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クラスに分離しました。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b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弾丸追加時は</a:t>
            </a:r>
            <a:r>
              <a:rPr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Factory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側に処理を任せることで、</a:t>
            </a:r>
            <a:r>
              <a:rPr lang="en-US" altLang="ja-JP" sz="3200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AttackState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の肥大化を防いでいます。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A65A3260-92DB-347F-E24D-8FC32374A0CB}"/>
              </a:ext>
            </a:extLst>
          </p:cNvPr>
          <p:cNvGrpSpPr/>
          <p:nvPr/>
        </p:nvGrpSpPr>
        <p:grpSpPr>
          <a:xfrm>
            <a:off x="570097" y="1175658"/>
            <a:ext cx="11377792" cy="2203712"/>
            <a:chOff x="570097" y="1175658"/>
            <a:chExt cx="11377792" cy="2203712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8B25BAC4-681E-4E8A-7553-B10687F3D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258" t="24865" r="3681" b="1"/>
            <a:stretch>
              <a:fillRect/>
            </a:stretch>
          </p:blipFill>
          <p:spPr>
            <a:xfrm>
              <a:off x="570097" y="1175658"/>
              <a:ext cx="11377792" cy="1785256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8801D0E7-FBCF-1BAB-A3D3-A714CB070A82}"/>
                </a:ext>
              </a:extLst>
            </p:cNvPr>
            <p:cNvSpPr txBox="1"/>
            <p:nvPr/>
          </p:nvSpPr>
          <p:spPr>
            <a:xfrm>
              <a:off x="570097" y="3010038"/>
              <a:ext cx="5046931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図</a:t>
              </a:r>
              <a:r>
                <a:rPr lang="en-US" altLang="ja-JP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8 </a:t>
              </a:r>
              <a:r>
                <a:rPr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発射リクエストと</a:t>
              </a:r>
              <a:r>
                <a:rPr lang="en-US" altLang="ja-JP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Factory</a:t>
              </a:r>
              <a:r>
                <a:rPr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による生成処理</a:t>
              </a:r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6627A9B-065C-8CBA-54CA-8FF900DE980D}"/>
              </a:ext>
            </a:extLst>
          </p:cNvPr>
          <p:cNvSpPr txBox="1"/>
          <p:nvPr/>
        </p:nvSpPr>
        <p:spPr>
          <a:xfrm>
            <a:off x="570097" y="6100798"/>
            <a:ext cx="11128418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関連コード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:</a:t>
            </a:r>
          </a:p>
          <a:p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BulletFireRequest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GunShooter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BulletFactory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BulletParameterTable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各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Bullet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クラス</a:t>
            </a:r>
          </a:p>
        </p:txBody>
      </p:sp>
    </p:spTree>
    <p:extLst>
      <p:ext uri="{BB962C8B-B14F-4D97-AF65-F5344CB8AC3E}">
        <p14:creationId xmlns:p14="http://schemas.microsoft.com/office/powerpoint/2010/main" val="471588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6223E45-CA5A-6B26-07F5-0DE14F9F326C}"/>
              </a:ext>
            </a:extLst>
          </p:cNvPr>
          <p:cNvSpPr txBox="1"/>
          <p:nvPr/>
        </p:nvSpPr>
        <p:spPr>
          <a:xfrm>
            <a:off x="555583" y="110871"/>
            <a:ext cx="7703046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⑨データ駆動ステージ管理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7D973E3-2CB9-DBF8-2706-000326887E1D}"/>
              </a:ext>
            </a:extLst>
          </p:cNvPr>
          <p:cNvSpPr txBox="1"/>
          <p:nvPr/>
        </p:nvSpPr>
        <p:spPr>
          <a:xfrm>
            <a:off x="555582" y="4181372"/>
            <a:ext cx="11545460" cy="13849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ステージ事の情報を</a:t>
            </a:r>
            <a:r>
              <a:rPr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Stage Data</a:t>
            </a:r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として分離。</a:t>
            </a:r>
            <a:endParaRPr lang="en-US" altLang="ja-JP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新しくステージが増えてもデータを登録するだけで完結し、</a:t>
            </a:r>
            <a:endParaRPr lang="en-US" altLang="ja-JP" sz="2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ステージの数だけクラスが増えることもありません。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236FF96-E276-7D7C-4084-35CC1C173703}"/>
              </a:ext>
            </a:extLst>
          </p:cNvPr>
          <p:cNvGrpSpPr/>
          <p:nvPr/>
        </p:nvGrpSpPr>
        <p:grpSpPr>
          <a:xfrm>
            <a:off x="555582" y="1291633"/>
            <a:ext cx="11545461" cy="2735299"/>
            <a:chOff x="555582" y="1291633"/>
            <a:chExt cx="11545461" cy="2735299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3B08E7E9-E979-4F3B-7E67-1D49DAA5D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5582" y="1291633"/>
              <a:ext cx="11545461" cy="2365967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AD62B16B-12B5-8834-CEB8-BEB68D944093}"/>
                </a:ext>
              </a:extLst>
            </p:cNvPr>
            <p:cNvSpPr txBox="1"/>
            <p:nvPr/>
          </p:nvSpPr>
          <p:spPr>
            <a:xfrm>
              <a:off x="555583" y="3657600"/>
              <a:ext cx="4437332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図</a:t>
              </a:r>
              <a:r>
                <a:rPr lang="en-US" altLang="ja-JP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9 </a:t>
              </a:r>
              <a:r>
                <a:rPr lang="ja-JP" altLang="en-US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データ駆動によるステージ読み込み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4561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19983B9-679F-BBB5-C8CD-5EDA0B98C422}"/>
              </a:ext>
            </a:extLst>
          </p:cNvPr>
          <p:cNvSpPr txBox="1"/>
          <p:nvPr/>
        </p:nvSpPr>
        <p:spPr>
          <a:xfrm>
            <a:off x="555583" y="110871"/>
            <a:ext cx="7703046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⑩まとめ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BACB5B-113D-430E-A83F-BC69753487E0}"/>
              </a:ext>
            </a:extLst>
          </p:cNvPr>
          <p:cNvSpPr txBox="1"/>
          <p:nvPr/>
        </p:nvSpPr>
        <p:spPr>
          <a:xfrm>
            <a:off x="555583" y="1294456"/>
            <a:ext cx="11273560" cy="45243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Player / NPC / 入力情報 / 攻撃 / ステージ管理を中心に、</a:t>
            </a:r>
          </a:p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責務分離と拡張性を意識して実装しました。</a:t>
            </a:r>
          </a:p>
          <a:p>
            <a:endParaRPr lang="ja-JP" altLang="en-US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入力情報の分離、StateMachine、Factory、データ駆動を取り入れることで、機能追加や調整をしやすい構成を目指しました。</a:t>
            </a:r>
          </a:p>
          <a:p>
            <a:endParaRPr lang="ja-JP" altLang="en-US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今後は、キャラクターごとの操作感や</a:t>
            </a:r>
            <a:r>
              <a:rPr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NPC</a:t>
            </a: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の挙動をさらに調整し、協力アクションとしての遊びやすさを高めていきます</a:t>
            </a:r>
            <a:r>
              <a:rPr lang="ja-JP" altLang="en-US" sz="3200" dirty="0"/>
              <a:t>。</a:t>
            </a:r>
            <a:endParaRPr lang="ja-JP" altLang="en-US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9373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596</Words>
  <Application>Microsoft Office PowerPoint</Application>
  <PresentationFormat>ワイド画面</PresentationFormat>
  <Paragraphs>90</Paragraphs>
  <Slides>13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メイリオ</vt:lpstr>
      <vt:lpstr>游ゴシック</vt:lpstr>
      <vt:lpstr>游ゴシック Light</vt:lpstr>
      <vt:lpstr>Arial</vt:lpstr>
      <vt:lpstr>Office テーマ</vt:lpstr>
      <vt:lpstr>エレメンタルハンターズ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山口 隼</dc:creator>
  <cp:lastModifiedBy>山口 隼</cp:lastModifiedBy>
  <cp:revision>21</cp:revision>
  <dcterms:created xsi:type="dcterms:W3CDTF">2026-05-15T08:25:58Z</dcterms:created>
  <dcterms:modified xsi:type="dcterms:W3CDTF">2026-05-18T10:38:21Z</dcterms:modified>
</cp:coreProperties>
</file>